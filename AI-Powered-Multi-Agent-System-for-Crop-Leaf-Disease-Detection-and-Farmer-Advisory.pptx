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Funnel Display"/>
      <p:regular r:id="rId201314"/>
    </p:embeddedFont>
    <p:embeddedFont>
      <p:font typeface="Funnel Display Bold"/>
      <p:regular r:id="rId201315"/>
    </p:embeddedFont>
    <p:embeddedFont>
      <p:font typeface="Funnel Sans Bold"/>
      <p:regular r:id="rId201316"/>
    </p:embeddedFont>
    <p:embeddedFont>
      <p:font typeface="Funnel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786830"/>
            <a:ext cx="6223638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AI-Powered Multi-Agent System for Crop Leaf Disease Detection and Farmer Advisory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4432697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intelligent, modular architecture for rapid diagnosis, risk assessment, and actionable recommendations — delivered to farmers in seconds.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50081"/>
            <a:ext cx="6223638" cy="88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Problem: Crop Losses and Diagnostic Delays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1698427"/>
            <a:ext cx="6223638" cy="1043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14738" y="1866999"/>
            <a:ext cx="5810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20–40% Annual Yield Loss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514738" y="2154238"/>
            <a:ext cx="5810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Crop diseases devastate global harvests every year, threatening food security and farmer livelihoods.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2853829"/>
            <a:ext cx="6223638" cy="10432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14738" y="3022402"/>
            <a:ext cx="5810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Late Diagnosis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514738" y="3309640"/>
            <a:ext cx="5810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Farmers frequently miss critical treatment windows, allowing disease to spread unchecked across entire fields.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4009231"/>
            <a:ext cx="6223638" cy="10432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14738" y="4177804"/>
            <a:ext cx="5810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Scarce Expertise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5514738" y="4465042"/>
            <a:ext cx="5810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Agronomist consultations in rural areas are expensive, slow, and inaccessible for smallholder farmers.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9971" y="5164634"/>
            <a:ext cx="6223638" cy="10432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14738" y="5333206"/>
            <a:ext cx="5810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Misidentification Risk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5514738" y="5620445"/>
            <a:ext cx="5810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Wrong diagnoses lead to incorrect treatments — wasting resources, harming soil health, and worsening outcomes.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57374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Motivation and Objectives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283" y="2279948"/>
            <a:ext cx="5166886" cy="29064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8633" y="1791891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21338" y="1828155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407289" y="1843286"/>
            <a:ext cx="309257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Rapid, Accurate Diagnosis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07289" y="2175371"/>
            <a:ext cx="3092571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Enable disease identification from a smartphone photo in seconds, not days.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58633" y="2818606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1338" y="2854871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407289" y="2870002"/>
            <a:ext cx="309257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Environmental Context Integration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407289" y="3202087"/>
            <a:ext cx="3092571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Incorporate weather, soil conditions, and crop growth stage into every risk assessment.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58633" y="3845322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21338" y="3881586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407289" y="3896717"/>
            <a:ext cx="309257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Farmer-Friendly Recommendations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407289" y="4228802"/>
            <a:ext cx="3092571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Deliver actionable, confidence-scored advice that farmers can immediately act upon.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58633" y="4872038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21338" y="4908302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407289" y="4923433"/>
            <a:ext cx="309257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Continuous Feedback Loop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407289" y="5255518"/>
            <a:ext cx="3092571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 treatment progress through follow-up images and adaptive re-evaluation.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9495"/>
            <a:ext cx="10795524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System Architecture: High-Level Overview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822" y="1392337"/>
            <a:ext cx="9715951" cy="4196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56299" y="4490859"/>
            <a:ext cx="1442645" cy="247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4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Orchestration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556299" y="4812736"/>
            <a:ext cx="1442645" cy="396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spc="-4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Dispatches tasks to agents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260639" y="4490859"/>
            <a:ext cx="1442645" cy="247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4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Risk Synthesis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260639" y="4812736"/>
            <a:ext cx="1442645" cy="396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spc="-4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Combine outputs into score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08727" y="1771034"/>
            <a:ext cx="1442645" cy="247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4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Upload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08727" y="2092911"/>
            <a:ext cx="1442645" cy="396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spc="-4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Farmer submits leaf image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53179" y="1771034"/>
            <a:ext cx="1442645" cy="494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4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Recommendation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053179" y="2340049"/>
            <a:ext cx="1442645" cy="396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spc="-4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Deliver actionable advice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31459" y="1771034"/>
            <a:ext cx="1442645" cy="494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4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Parallel Processing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31459" y="2340049"/>
            <a:ext cx="1442645" cy="396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spc="-4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Vision, Weather, RAG run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8086" y="5765304"/>
            <a:ext cx="10795524" cy="533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Orchestrator coordinates all specialist agents, enabling parallel processing that reduces end-to-end latency to under 4 seconds. A Monitoring Agent closes the feedback loop as follow-up images arrive.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18939"/>
            <a:ext cx="10795524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Agent Roles: Vision Agent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98086" y="1630065"/>
            <a:ext cx="3498068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Function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8086" y="2046585"/>
            <a:ext cx="3498068" cy="79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Vision Agent is the system's perceptual core — transforming raw leaf images into structured, quantified diagnostic outputs.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8086" y="2987278"/>
            <a:ext cx="3498068" cy="3096915"/>
          </a:xfrm>
          <a:prstGeom prst="rect">
            <a:avLst/>
          </a:prstGeom>
          <a:noFill/>
          <a:ln/>
        </p:spPr>
        <p:txBody>
          <a:bodyPr wrap="square" lIns="0" tIns="70690" rIns="0" bIns="0" rtlCol="0" anchor="t">
            <a:normAutofit/>
          </a:bodyPr>
          <a:lstStyle/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Input:</a:t>
            </a:r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Leaf image (JPEG/PNG) from farmer's device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Process:</a:t>
            </a:r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Convolutional neural network for image classification and object detection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Output:</a:t>
            </a:r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Disease label (e.g., early blight, late blight, leaf rust), confidence score (0–100%), and severity estimate (% leaf area affected)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Design:</a:t>
            </a:r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Trained on agricultural image datasets; outputs include uncertainty bounds for downstream agents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6986" y="2068215"/>
            <a:ext cx="6179487" cy="3476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7661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Agent Roles: Weather Agent &amp; RAG Agent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962249"/>
            <a:ext cx="5298049" cy="3919141"/>
          </a:xfrm>
          <a:prstGeom prst="roundRect">
            <a:avLst>
              <a:gd name="adj" fmla="val 2138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3860" y="2168029"/>
            <a:ext cx="488650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🌦</a:t>
            </a:r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Weather Agent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3860" y="2593677"/>
            <a:ext cx="4886500" cy="2443559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Input: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Farmer's GPS location and date/time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Process: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Queries weather API for current conditions and 7-day forecast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Output: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Temperature, humidity, rainfall, wind speed — with disease-favorable conditions flagged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Design: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Caches recent queries; alerts when conditions favor rapid disease spread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95560" y="1962249"/>
            <a:ext cx="5298049" cy="3919141"/>
          </a:xfrm>
          <a:prstGeom prst="roundRect">
            <a:avLst>
              <a:gd name="adj" fmla="val 2138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1334" y="2168029"/>
            <a:ext cx="488650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RAG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1334" y="2593677"/>
            <a:ext cx="4886500" cy="3081933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Input: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Disease label from Vision Agent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Process: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Semantic search across vector database of extension documents, treatment guides, and pesticide databases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Output: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Treatment options, fungicide recommendations, application timing, and cost estimates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Design: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Grounds all recommendations in peer-reviewed agricultural knowledge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139726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Agent Roles: Risk/Reason &amp; Recommendation Agents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811661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Risk/Reason Agent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304381"/>
            <a:ext cx="2868541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Synthesizes outputs from Vision, Weather, and RAG agents to assess overall risk severity —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low, moderate, or severe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and estimate disease progression timeline. Acts as the analytical brain of the system.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059533" y="2811661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Recommendation Agent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59533" y="3304381"/>
            <a:ext cx="2868541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Converts the risk assessment into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clear, actionable steps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(e.g., "Apply fungicide X within 48 hours"), urgency level, and a confidence justification. Outputs structured JSON for clean UI rendering.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18939"/>
            <a:ext cx="10795524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Agent Roles: Monitoring Agent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374" y="2068215"/>
            <a:ext cx="6179487" cy="34760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1792" y="1630065"/>
            <a:ext cx="3498068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Closing the Feedback Loop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001792" y="2046585"/>
            <a:ext cx="3498068" cy="79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Monitoring Agent transforms the system from a one-shot diagnostic tool into a </a:t>
            </a:r>
            <a:pPr algn="l" indent="0" marL="0">
              <a:lnSpc>
                <a:spcPct val="126000"/>
              </a:lnSpc>
              <a:buNone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continuous care platform</a:t>
            </a:r>
            <a:pPr algn="l" indent="0" marL="0">
              <a:lnSpc>
                <a:spcPct val="126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01792" y="2987278"/>
            <a:ext cx="3498068" cy="3096915"/>
          </a:xfrm>
          <a:prstGeom prst="rect">
            <a:avLst/>
          </a:prstGeom>
          <a:noFill/>
          <a:ln/>
        </p:spPr>
        <p:txBody>
          <a:bodyPr wrap="square" lIns="0" tIns="70690" rIns="0" bIns="0" rtlCol="0" anchor="t">
            <a:normAutofit/>
          </a:bodyPr>
          <a:lstStyle/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Input:</a:t>
            </a:r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Follow-up leaf image plus full previous case history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Process:</a:t>
            </a:r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Compares current severity against baseline; computes delta (improvement or deterioration)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Output:</a:t>
            </a:r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Updated risk assessment and recommendation adjustment (e.g., "disease spreading — escalate treatment")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Design:</a:t>
            </a:r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Enables long-term case tracking and treatment efficacy measurement over time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5220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 Flow: Single Request Lifecycle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086323" y="1309588"/>
            <a:ext cx="19050" cy="427990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4" name="Shape 2"/>
          <p:cNvSpPr/>
          <p:nvPr/>
        </p:nvSpPr>
        <p:spPr>
          <a:xfrm>
            <a:off x="5497871" y="1468338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5" name="Shape 3"/>
          <p:cNvSpPr/>
          <p:nvPr/>
        </p:nvSpPr>
        <p:spPr>
          <a:xfrm>
            <a:off x="5927577" y="1309588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90281" y="1345853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98086" y="1360984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0s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8086" y="1648222"/>
            <a:ext cx="4649770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Farmer uploads leaf image. Orchestrator receives request and logs a unique case ID.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069" y="2291060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0" name="Shape 8"/>
          <p:cNvSpPr/>
          <p:nvPr/>
        </p:nvSpPr>
        <p:spPr>
          <a:xfrm>
            <a:off x="5927577" y="2132310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0281" y="2168575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43839" y="2183705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0–2s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43839" y="2470944"/>
            <a:ext cx="4649770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Vision, Weather, and RAG agents execute </a:t>
            </a:r>
            <a:pPr algn="l" indent="0" marL="0">
              <a:lnSpc>
                <a:spcPct val="117000"/>
              </a:lnSpc>
              <a:buNone/>
            </a:pPr>
            <a:r>
              <a:rPr lang="en-US" sz="115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 parallel</a:t>
            </a:r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; each returns structured output independently.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97871" y="3027363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7577" y="2868613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0281" y="2904877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98086" y="2920008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2–3s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8086" y="3207246"/>
            <a:ext cx="4649770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Risk/Reason Agent synthesizes all outputs; computes risk score and disease progression estimate.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069" y="3763665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27577" y="3604915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0281" y="3641179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843839" y="3656310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3–4s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43839" y="3943548"/>
            <a:ext cx="4649770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Recommendation Agent generates actionable advice. UI displays result directly to the farmer.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97871" y="4499967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7577" y="4341217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0281" y="4377482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98086" y="4392613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+Days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8086" y="4679851"/>
            <a:ext cx="4649770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Farmer uploads follow-up image. Monitoring Agent compares severity and re-triggers the Risk/Reason Agent.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98086" y="5715695"/>
            <a:ext cx="10795524" cy="497086"/>
          </a:xfrm>
          <a:prstGeom prst="roundRect">
            <a:avLst>
              <a:gd name="adj" fmla="val 12641"/>
            </a:avLst>
          </a:prstGeom>
          <a:solidFill>
            <a:srgbClr val="D8E7F3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05" y="5873948"/>
            <a:ext cx="186923" cy="14952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84047" y="5865118"/>
            <a:ext cx="1076962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End-to-end diagnosis is delivered in under 4 seconds — from image upload to actionable recommendation.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0421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30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Multi-Agent Architecture?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587798"/>
            <a:ext cx="473758" cy="473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286595"/>
            <a:ext cx="344846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Modularity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98086" y="2673152"/>
            <a:ext cx="3448460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agent has a single, well-defined responsibility — making it easy to update, retrain, or replace without disrupting the entire system.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1568" y="1587798"/>
            <a:ext cx="473758" cy="4737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1568" y="2286595"/>
            <a:ext cx="344846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Parallelization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371568" y="2673152"/>
            <a:ext cx="3448460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Vision, Weather, and RAG agents run simultaneously, cutting latency and delivering results in under 4 seconds.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1587798"/>
            <a:ext cx="473758" cy="4737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5050" y="2286595"/>
            <a:ext cx="344855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Explainability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045050" y="2673152"/>
            <a:ext cx="3448559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agent's output is independently interpretable — farmers see </a:t>
            </a:r>
            <a:pPr algn="l" indent="0" marL="0">
              <a:lnSpc>
                <a:spcPct val="130000"/>
              </a:lnSpc>
              <a:buNone/>
            </a:pPr>
            <a:r>
              <a:rPr lang="en-US" sz="1450" i="1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why</a:t>
            </a:r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 recommendation was made, building trust.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215507"/>
            <a:ext cx="473758" cy="4737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8086" y="4914305"/>
            <a:ext cx="344846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Scalability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98086" y="5300861"/>
            <a:ext cx="3448460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Agents deploy independently and can be load-balanced based on regional demand spikes during disease outbreaks.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1568" y="4215507"/>
            <a:ext cx="473758" cy="4737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71568" y="4914305"/>
            <a:ext cx="344846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Robustness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4371568" y="5300861"/>
            <a:ext cx="3448460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Failure of one agent (e.g., weather API outage) does not block the entire pipeline — graceful degradation is built in.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821730"/>
            <a:ext cx="6223638" cy="997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Summary and Research Contribution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98086" y="2179241"/>
            <a:ext cx="29050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We Built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8086" y="2572643"/>
            <a:ext cx="2905052" cy="175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fully modular, multi-agent AI system that delivers sub-4-second crop disease diagnosis, integrates environmental context, and provides confidence-scored, farmer-actionable recommendations with continuous monitoring.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23021" y="2179241"/>
            <a:ext cx="29050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Contributions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023021" y="2572643"/>
            <a:ext cx="2905052" cy="3413224"/>
          </a:xfrm>
          <a:prstGeom prst="rect">
            <a:avLst/>
          </a:prstGeom>
          <a:noFill/>
          <a:ln/>
        </p:spPr>
        <p:txBody>
          <a:bodyPr wrap="square" lIns="0" tIns="67823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Novel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Orchestrator–Specialist agent architecture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agricultural diagnostics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Integration of visual, meteorological, and knowledge retrieval signals into a unified risk model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Closed-loop monitoring enabling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treatment efficacy tracking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over time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Explainable, confidence-scored outputs designed for 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low-literacy, resource-constrained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farming contexts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2026-08-14T05:57:52Z</dcterms:created>
  <dcterms:modified xsi:type="dcterms:W3CDTF">2026-08-14T05:57:52Z</dcterms:modified>
</cp:coreProperties>
</file>