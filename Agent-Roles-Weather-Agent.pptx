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Funnel Display"/>
      <p:regular r:id="rId201314"/>
    </p:embeddedFont>
    <p:embeddedFont>
      <p:font typeface="Funnel Display Bold"/>
      <p:regular r:id="rId201315"/>
    </p:embeddedFont>
    <p:embeddedFont>
      <p:font typeface="Funnel Sans Bold"/>
      <p:regular r:id="rId201316"/>
    </p:embeddedFont>
    <p:embeddedFont>
      <p:font typeface="Funnel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2.png"/><Relationship Id="rId5" Type="http://schemas.openxmlformats.org/officeDocument/2006/relationships/image" Target="../media/image-1-3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583505"/>
            <a:ext cx="6223638" cy="49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spc="-26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 Roles: Weather Agent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98086" y="1283791"/>
            <a:ext cx="1623476" cy="253504"/>
          </a:xfrm>
          <a:prstGeom prst="roundRect">
            <a:avLst>
              <a:gd name="adj" fmla="val 22122"/>
            </a:avLst>
          </a:prstGeom>
          <a:solidFill>
            <a:srgbClr val="D8E7F3"/>
          </a:solidFill>
          <a:ln/>
        </p:spPr>
      </p:sp>
      <p:sp>
        <p:nvSpPr>
          <p:cNvPr id="5" name="Text 2"/>
          <p:cNvSpPr/>
          <p:nvPr/>
        </p:nvSpPr>
        <p:spPr>
          <a:xfrm>
            <a:off x="798195" y="1333798"/>
            <a:ext cx="2032842" cy="153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SYSTEM ARCHITECTURE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851422"/>
            <a:ext cx="2908227" cy="12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215" y="2037358"/>
            <a:ext cx="2460167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2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60215" y="2422327"/>
            <a:ext cx="246016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Farmer's GPS location, date/time stamp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238202"/>
            <a:ext cx="2908227" cy="12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215" y="3424138"/>
            <a:ext cx="2460167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2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Process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60215" y="3809107"/>
            <a:ext cx="246016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Queries weather API for current conditions and 7-day forecast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624983"/>
            <a:ext cx="2908227" cy="14923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215" y="4810919"/>
            <a:ext cx="2460167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26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Output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960215" y="5195888"/>
            <a:ext cx="246016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Temperature, humidity, rainfall, wind speed; disease-favorable conditions flagged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3899695" y="1694359"/>
            <a:ext cx="3148529" cy="4580037"/>
          </a:xfrm>
          <a:prstGeom prst="roundRect">
            <a:avLst>
              <a:gd name="adj" fmla="val 3817"/>
            </a:avLst>
          </a:prstGeom>
          <a:solidFill>
            <a:srgbClr val="3371A5"/>
          </a:solidFill>
          <a:ln/>
        </p:spPr>
      </p:sp>
      <p:sp>
        <p:nvSpPr>
          <p:cNvPr id="16" name="Text 10"/>
          <p:cNvSpPr/>
          <p:nvPr/>
        </p:nvSpPr>
        <p:spPr>
          <a:xfrm>
            <a:off x="4066577" y="1833959"/>
            <a:ext cx="2814766" cy="245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26" kern="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Design Principles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066577" y="2218928"/>
            <a:ext cx="2814766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spc="-26" kern="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Caches recent queries to minimize redundant API calls. Automatically alerts the Orchestrator when conditions — high humidity, warm nights, post-rain windows — favor rapid pathogen spread.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10242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 Roles: RAG Agent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088059"/>
            <a:ext cx="2934718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3371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7740" y="2147888"/>
            <a:ext cx="330499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3371A5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RETRIEVAL-AUGMENTED GENERATION</a:t>
            </a:r>
            <a:endParaRPr lang="en-US" sz="1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615505"/>
            <a:ext cx="498661" cy="4986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6077" y="2615505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Input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46077" y="3028454"/>
            <a:ext cx="4525056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Disease label received from the Vision Agent after image classification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463" y="2615505"/>
            <a:ext cx="498661" cy="4986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68455" y="2615505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Process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968455" y="3028454"/>
            <a:ext cx="452515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Semantic search across a vector database of agricultural extension documents, treatment guides, and pesticide registries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384973"/>
            <a:ext cx="498661" cy="4986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46077" y="4384973"/>
            <a:ext cx="452505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Output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446077" y="4797921"/>
            <a:ext cx="4525056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Relevant treatment options, fungicide/pesticide recommendations, application timing, and cost estimates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0463" y="4384973"/>
            <a:ext cx="498661" cy="4986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68455" y="4384973"/>
            <a:ext cx="452515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Design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6968455" y="4797921"/>
            <a:ext cx="4525155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Grounding in peer-reviewed knowledge prevents hallucination; retrieval is traceable to source documents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980182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 Roles: Risk/Reason &amp; Recommendation Agents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652117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Risk / Reason Agent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144838"/>
            <a:ext cx="2868541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Synthesizes outputs from Vision, Weather, and RAG agents into a unified assessment. Assigns an overall risk level —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low, moderate, or severe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and estimates the likely disease progression timeline.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059533" y="2652117"/>
            <a:ext cx="286854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Recommendation Agent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59533" y="3144838"/>
            <a:ext cx="2868541" cy="2553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Converts the risk assessment into clear, actionable steps — e.g., </a:t>
            </a:r>
            <a:pPr algn="l" indent="0" marL="0">
              <a:lnSpc>
                <a:spcPct val="133000"/>
              </a:lnSpc>
              <a:buNone/>
            </a:pPr>
            <a:r>
              <a:rPr lang="en-US" sz="1550" i="1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"Apply fungicide within 48 hours."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Outputs urgency level and a plain-language confidence justification rendered via structured JSON for the farmer UI.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447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spc="-24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Agent Roles: Monitoring Agent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98086" y="1227733"/>
            <a:ext cx="1078878" cy="230882"/>
          </a:xfrm>
          <a:prstGeom prst="roundRect">
            <a:avLst>
              <a:gd name="adj" fmla="val 22135"/>
            </a:avLst>
          </a:prstGeom>
          <a:solidFill>
            <a:srgbClr val="D8E7F3"/>
          </a:solidFill>
          <a:ln/>
        </p:spPr>
      </p:sp>
      <p:sp>
        <p:nvSpPr>
          <p:cNvPr id="4" name="Text 2"/>
          <p:cNvSpPr/>
          <p:nvPr/>
        </p:nvSpPr>
        <p:spPr>
          <a:xfrm>
            <a:off x="789265" y="1273274"/>
            <a:ext cx="1506103" cy="13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FEEDBACK LOOP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288" y="1589088"/>
            <a:ext cx="7859119" cy="4162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16207" y="4564246"/>
            <a:ext cx="2081358" cy="45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spc="-3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Follow-up Image Uploaded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16207" y="5090267"/>
            <a:ext cx="2081358" cy="342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200" spc="-3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Attach new image linked to case history.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56209" y="1907965"/>
            <a:ext cx="2081358" cy="45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400" spc="-3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Compare Against Baseline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356209" y="2433986"/>
            <a:ext cx="2081358" cy="342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200" spc="-3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Align and contrast with initial image.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19833" y="2136429"/>
            <a:ext cx="1951813" cy="228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3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Compute Severity Delta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019833" y="2433986"/>
            <a:ext cx="2081358" cy="342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spc="-3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Calculate percent change in affected area.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53922" y="4564381"/>
            <a:ext cx="2081358" cy="45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33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Update Risk &amp; Adjust Recommendation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53922" y="5090402"/>
            <a:ext cx="2081358" cy="342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spc="-33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Revise risk score and treatment advice.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8086" y="5882382"/>
            <a:ext cx="10795524" cy="428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spc="-24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Monitoring Agent closes the feedback loop by linking every follow-up image to its original case history. By computing the percentage change in affected leaf area over time, it enables long-term treatment efficacy measurement and triggers escalation when disease continues to spread despite intervention.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775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 Flow: Single Request Lifecycle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3921820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4" name="Shape 2"/>
          <p:cNvSpPr/>
          <p:nvPr/>
        </p:nvSpPr>
        <p:spPr>
          <a:xfrm>
            <a:off x="2401431" y="3323481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5CDBE"/>
          </a:solidFill>
          <a:ln/>
        </p:spPr>
      </p:sp>
      <p:sp>
        <p:nvSpPr>
          <p:cNvPr id="5" name="Shape 3"/>
          <p:cNvSpPr/>
          <p:nvPr/>
        </p:nvSpPr>
        <p:spPr>
          <a:xfrm>
            <a:off x="2189802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73342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7510" y="1753394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0s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510" y="2166342"/>
            <a:ext cx="30334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Farmer uploads image; Orchestrator logs unique case ID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242190" y="3921770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5CDBE"/>
          </a:solidFill>
          <a:ln/>
        </p:spPr>
      </p:sp>
      <p:sp>
        <p:nvSpPr>
          <p:cNvPr id="10" name="Shape 8"/>
          <p:cNvSpPr/>
          <p:nvPr/>
        </p:nvSpPr>
        <p:spPr>
          <a:xfrm>
            <a:off x="4030562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102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38270" y="4719737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0–2s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38270" y="5132685"/>
            <a:ext cx="30334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Vision, Weather, RAG agents run </a:t>
            </a:r>
            <a:pPr algn="ctr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in parallel</a:t>
            </a:r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; each returns structured output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083049" y="3323481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5CDBE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1420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4960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9128" y="1753394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2–3s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9128" y="2166342"/>
            <a:ext cx="30334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Risk/Reason Agent synthesizes all outputs; computes risk score and progression estimate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23808" y="3921770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5CDB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12180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5720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19888" y="4719737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3–4s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19888" y="5132685"/>
            <a:ext cx="30334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Recommendation Agent generates actionable advice; result displayed to farmer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764667" y="3323481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5CDBE"/>
          </a:solidFill>
          <a:ln/>
        </p:spPr>
      </p:sp>
      <p:sp>
        <p:nvSpPr>
          <p:cNvPr id="25" name="Shape 23"/>
          <p:cNvSpPr/>
          <p:nvPr/>
        </p:nvSpPr>
        <p:spPr>
          <a:xfrm>
            <a:off x="9553038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6578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60746" y="1753394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 = +Days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60746" y="2166342"/>
            <a:ext cx="30334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Follow-up image triggers Monitoring Agent; Risk/Reason Agent re-evaluates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752673"/>
            <a:ext cx="622363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spc="-25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Multi-Agent Architecture?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98086" y="1557139"/>
            <a:ext cx="2917157" cy="1383109"/>
          </a:xfrm>
          <a:prstGeom prst="roundRect">
            <a:avLst>
              <a:gd name="adj" fmla="val 484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3975" y="1723033"/>
            <a:ext cx="258537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Modularity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3975" y="2085280"/>
            <a:ext cx="2585378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Single responsibility per agent — update or replace without system-wide impact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98086" y="3067844"/>
            <a:ext cx="2917157" cy="1383109"/>
          </a:xfrm>
          <a:prstGeom prst="roundRect">
            <a:avLst>
              <a:gd name="adj" fmla="val 484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3975" y="3233738"/>
            <a:ext cx="258537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Parallelization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3975" y="3595985"/>
            <a:ext cx="2585378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Vision, Weather, RAG run simultaneously — dramatically lower end-to-end latency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8086" y="4578548"/>
            <a:ext cx="2917157" cy="1383109"/>
          </a:xfrm>
          <a:prstGeom prst="roundRect">
            <a:avLst>
              <a:gd name="adj" fmla="val 484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3975" y="4744442"/>
            <a:ext cx="258537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Explainability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63975" y="5106690"/>
            <a:ext cx="2585378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agent output is interpretable — farmers see </a:t>
            </a:r>
            <a:pPr algn="l" indent="0" marL="0">
              <a:lnSpc>
                <a:spcPct val="120000"/>
              </a:lnSpc>
              <a:buNone/>
            </a:pPr>
            <a:r>
              <a:rPr lang="en-US" sz="1250" i="1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why</a:t>
            </a:r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each recommendation was made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10917" y="1557139"/>
            <a:ext cx="2917157" cy="1153418"/>
          </a:xfrm>
          <a:prstGeom prst="roundRect">
            <a:avLst>
              <a:gd name="adj" fmla="val 5811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76806" y="1723033"/>
            <a:ext cx="258537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176806" y="2085280"/>
            <a:ext cx="2585378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Agents deployed and load-balanced independently based on demand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10917" y="2838152"/>
            <a:ext cx="2917157" cy="1383109"/>
          </a:xfrm>
          <a:prstGeom prst="roundRect">
            <a:avLst>
              <a:gd name="adj" fmla="val 4846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6806" y="3004046"/>
            <a:ext cx="2585378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5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Robustness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176806" y="3366294"/>
            <a:ext cx="2585378" cy="68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spc="-25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Failure of one agent (e.g., weather API outage) does not block the entire pipeline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16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Handling Uncertainty and Confidence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174504"/>
            <a:ext cx="5276123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16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Why Confidence Transparency Matters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3836" y="3370957"/>
            <a:ext cx="5276123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Presenting </a:t>
            </a:r>
            <a:pPr algn="l" indent="0" marL="0">
              <a:lnSpc>
                <a:spcPct val="100000"/>
              </a:lnSpc>
              <a:buNone/>
            </a:pPr>
            <a:r>
              <a:rPr lang="en-US" sz="750" b="1" spc="-16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confidence ranges</a:t>
            </a:r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rather than false binary outputs — builds farmer trust and supports regulatory compliance. The system never overstates certainty: low-confidence detections surface a human agronomist for manual verification, ensuring safety in high-stakes decisions.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3836" y="3785989"/>
            <a:ext cx="5276123" cy="259159"/>
          </a:xfrm>
          <a:prstGeom prst="roundRect">
            <a:avLst>
              <a:gd name="adj" fmla="val 16164"/>
            </a:avLst>
          </a:prstGeom>
          <a:solidFill>
            <a:srgbClr val="D8E7F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549" y="3868638"/>
            <a:ext cx="124616" cy="997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47877" y="3855740"/>
            <a:ext cx="5461955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spc="-16" kern="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Uncertainty quantification is a core design principle, not a post-hoc addition.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812403"/>
            <a:ext cx="6223638" cy="1114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30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Monitoring and Feedback Loop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98086" y="2197001"/>
            <a:ext cx="426332" cy="426343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7459" y="2242939"/>
            <a:ext cx="267487" cy="334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304396" y="2262088"/>
            <a:ext cx="561732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Case Tracking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304396" y="2648645"/>
            <a:ext cx="5617327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farmer case receives a unique ID; all follow-up images are linked to the original baseline for longitudinal comparison.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98086" y="3599855"/>
            <a:ext cx="426332" cy="426343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459" y="3645793"/>
            <a:ext cx="267487" cy="334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304396" y="3664942"/>
            <a:ext cx="561732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Severity Trending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304396" y="4051498"/>
            <a:ext cx="5617327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Monitoring Agent computes percentage change in affected leaf area across visits, generating a quantitative severity trajectory.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98086" y="5002709"/>
            <a:ext cx="426332" cy="426343"/>
          </a:xfrm>
          <a:prstGeom prst="roundRect">
            <a:avLst>
              <a:gd name="adj" fmla="val 1866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459" y="5048647"/>
            <a:ext cx="267487" cy="3343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304396" y="5067796"/>
            <a:ext cx="561732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Adaptive Recommendations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304396" y="5454352"/>
            <a:ext cx="5617327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If disease worsens despite treatment, the system escalates urgency or proposes alternative interventions informed by RAG knowledge.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1629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31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Expected Challenges and Limitations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001937"/>
            <a:ext cx="5298049" cy="1820168"/>
          </a:xfrm>
          <a:prstGeom prst="roundRect">
            <a:avLst>
              <a:gd name="adj" fmla="val 4603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2910" y="2226766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Image Quality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22910" y="2639715"/>
            <a:ext cx="484840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Poor lighting or resolution reduces Vision Agent accuracy.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Mitigation: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In-app guidance prompts farmers on optimal photo capture technique.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95560" y="2001937"/>
            <a:ext cx="5298049" cy="1820168"/>
          </a:xfrm>
          <a:prstGeom prst="roundRect">
            <a:avLst>
              <a:gd name="adj" fmla="val 4603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0384" y="2226766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Disease Overlap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20384" y="2639715"/>
            <a:ext cx="484840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Visually similar symptoms across diseases increase misclassification risk.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Mitigation: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Confidence thresholds trigger agronomist escalation.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98086" y="4021534"/>
            <a:ext cx="5298049" cy="1820168"/>
          </a:xfrm>
          <a:prstGeom prst="roundRect">
            <a:avLst>
              <a:gd name="adj" fmla="val 4603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2910" y="4246364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Regional Knowledge Gaps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22910" y="4659313"/>
            <a:ext cx="484840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RAG database may lack local treatment practices.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Mitigation: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Continuous curation with regional extension partners.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195560" y="4021534"/>
            <a:ext cx="5298049" cy="1820168"/>
          </a:xfrm>
          <a:prstGeom prst="roundRect">
            <a:avLst>
              <a:gd name="adj" fmla="val 4603"/>
            </a:avLst>
          </a:prstGeom>
          <a:solidFill>
            <a:srgbClr val="FAF5EB"/>
          </a:solidFill>
          <a:ln w="25399">
            <a:solidFill>
              <a:srgbClr val="D5CD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0384" y="4246364"/>
            <a:ext cx="48484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1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Connectivity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20384" y="4659313"/>
            <a:ext cx="4848401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Rural intermittent internet disrupts real-time agents.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Mitigation: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Offline mode for image capture and lightweight on-device inference.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975916"/>
            <a:ext cx="6223638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spc="-30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Future Scope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69971" y="1983184"/>
            <a:ext cx="288064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Near-Term Extensions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269971" y="2441773"/>
            <a:ext cx="2880645" cy="3377307"/>
          </a:xfrm>
          <a:prstGeom prst="rect">
            <a:avLst/>
          </a:prstGeom>
          <a:noFill/>
          <a:ln/>
        </p:spPr>
        <p:txBody>
          <a:bodyPr wrap="square" lIns="0" tIns="75802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Push-Based Monitoring: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Proactive alerts when weather favors disease spread — no farmer input required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Multilingual Support: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Recommendations in local languages with culturally adapted treatment advice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Offline Mode: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Lightweight models for on-device inference in low-connectivity regions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9314" y="1983184"/>
            <a:ext cx="288064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spc="-30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Long-Term Vision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19314" y="2441773"/>
            <a:ext cx="2880645" cy="2427585"/>
          </a:xfrm>
          <a:prstGeom prst="rect">
            <a:avLst/>
          </a:prstGeom>
          <a:noFill/>
          <a:ln/>
        </p:spPr>
        <p:txBody>
          <a:bodyPr wrap="square" lIns="0" tIns="75802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Crop-Specific Tuning: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Specialized models for wheat, rice, maize; region-specific disease prevalence weighting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B3541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Supply Chain Integration:</a:t>
            </a:r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Link recommendations to local pesticide availability and real-time pricing data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712192"/>
            <a:ext cx="6223638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spc="-27" kern="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Conclusion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5269971" y="1426964"/>
            <a:ext cx="6223638" cy="4718844"/>
          </a:xfrm>
          <a:prstGeom prst="roundRect">
            <a:avLst>
              <a:gd name="adj" fmla="val 1509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276321" y="1433314"/>
            <a:ext cx="6210938" cy="1176536"/>
          </a:xfrm>
          <a:custGeom>
            <a:avLst/>
            <a:gdLst/>
            <a:ahLst/>
            <a:cxnLst/>
            <a:rect l="l" t="t" r="r" b="b"/>
            <a:pathLst>
              <a:path w="6210938" h="1176536">
                <a:moveTo>
                  <a:pt x="59345" y="0"/>
                </a:moveTo>
                <a:lnTo>
                  <a:pt x="6151593" y="0"/>
                </a:lnTo>
                <a:arcTo hR="59347" wR="59345" stAng="16200000" swAng="5400000"/>
                <a:lnTo>
                  <a:pt x="6210938" y="1176536"/>
                </a:lnTo>
                <a:lnTo>
                  <a:pt x="0" y="1176536"/>
                </a:lnTo>
                <a:lnTo>
                  <a:pt x="0" y="59347"/>
                </a:lnTo>
                <a:arcTo hR="59347" wR="59345" stAng="10800000" swAng="5400000"/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6" name="Text 3"/>
          <p:cNvSpPr/>
          <p:nvPr/>
        </p:nvSpPr>
        <p:spPr>
          <a:xfrm>
            <a:off x="5445783" y="1602780"/>
            <a:ext cx="5872016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Scalable Diagnosis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445783" y="1938536"/>
            <a:ext cx="5872016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Multi-agent architecture enables rapid, accurate, context-aware disease diagnosis at scale across diverse crops and geographies.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76321" y="2609850"/>
            <a:ext cx="6210938" cy="1176536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9" name="Shape 6"/>
          <p:cNvSpPr/>
          <p:nvPr/>
        </p:nvSpPr>
        <p:spPr>
          <a:xfrm>
            <a:off x="5276321" y="2609850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0" name="Text 7"/>
          <p:cNvSpPr/>
          <p:nvPr/>
        </p:nvSpPr>
        <p:spPr>
          <a:xfrm>
            <a:off x="5445783" y="2779316"/>
            <a:ext cx="5872016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Farmer Trust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445783" y="3115072"/>
            <a:ext cx="5872016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Transparency in confidence scoring and chain-of-reasoning builds trust and enables meaningful human oversight at every step.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76321" y="3786386"/>
            <a:ext cx="6210938" cy="1176536"/>
          </a:xfrm>
          <a:prstGeom prst="rect">
            <a:avLst/>
          </a:prstGeom>
          <a:solidFill>
            <a:srgbClr val="FAF5EB"/>
          </a:solidFill>
          <a:ln/>
        </p:spPr>
      </p:sp>
      <p:sp>
        <p:nvSpPr>
          <p:cNvPr id="13" name="Shape 10"/>
          <p:cNvSpPr/>
          <p:nvPr/>
        </p:nvSpPr>
        <p:spPr>
          <a:xfrm>
            <a:off x="5276321" y="3786386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4" name="Text 11"/>
          <p:cNvSpPr/>
          <p:nvPr/>
        </p:nvSpPr>
        <p:spPr>
          <a:xfrm>
            <a:off x="5445783" y="3955852"/>
            <a:ext cx="5872016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Continuous Improvement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445783" y="4291608"/>
            <a:ext cx="5872016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monitoring feedback loop closes the advisory cycle, enabling treatment efficacy tracking and system-wide learning over time.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76321" y="4962922"/>
            <a:ext cx="6210938" cy="1176536"/>
          </a:xfrm>
          <a:custGeom>
            <a:avLst/>
            <a:gdLst/>
            <a:ahLst/>
            <a:cxnLst/>
            <a:rect l="l" t="t" r="r" b="b"/>
            <a:pathLst>
              <a:path w="6210938" h="1176536">
                <a:moveTo>
                  <a:pt x="0" y="0"/>
                </a:moveTo>
                <a:lnTo>
                  <a:pt x="6210938" y="0"/>
                </a:lnTo>
                <a:lnTo>
                  <a:pt x="6210938" y="1117189"/>
                </a:lnTo>
                <a:arcTo hR="59347" wR="59345" stAng="0" swAng="5400000"/>
                <a:lnTo>
                  <a:pt x="59345" y="1176536"/>
                </a:lnTo>
                <a:arcTo hR="59347" wR="59345" stAng="5400000" swAng="5400000"/>
                <a:lnTo>
                  <a:pt x="0" y="0"/>
                </a:lnTo>
                <a:close/>
              </a:path>
            </a:pathLst>
          </a:custGeom>
          <a:solidFill>
            <a:srgbClr val="FAF5EB"/>
          </a:solidFill>
          <a:ln/>
        </p:spPr>
      </p:sp>
      <p:sp>
        <p:nvSpPr>
          <p:cNvPr id="17" name="Shape 14"/>
          <p:cNvSpPr/>
          <p:nvPr/>
        </p:nvSpPr>
        <p:spPr>
          <a:xfrm>
            <a:off x="5276321" y="4962922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5CDBE"/>
          </a:solidFill>
          <a:ln/>
        </p:spPr>
      </p:sp>
      <p:sp>
        <p:nvSpPr>
          <p:cNvPr id="18" name="Text 15"/>
          <p:cNvSpPr/>
          <p:nvPr/>
        </p:nvSpPr>
        <p:spPr>
          <a:xfrm>
            <a:off x="5445783" y="5132388"/>
            <a:ext cx="5872016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27" kern="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Democratizing Expertise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445783" y="5468144"/>
            <a:ext cx="5872016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Expert-level agricultural advisory becomes accessible to resource-constrained farmers — bridging the critical agronomist gap at scale.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2026-08-14T06:03:33Z</dcterms:created>
  <dcterms:modified xsi:type="dcterms:W3CDTF">2026-08-14T06:03:33Z</dcterms:modified>
</cp:coreProperties>
</file>